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はじめに" id="{7819d5b8-5d21-22ee-8ef9-e5a077671608}">
          <p14:sldIdLst>
            <p14:sldId id="256"/>
            <p14:sldId id="257"/>
          </p14:sldIdLst>
        </p14:section>
        <p14:section name="現状分析" id="{8eb2106f-e12e-6b5b-b5bd-bdd5c2b659be}">
          <p14:sldIdLst>
            <p14:sldId id="258"/>
            <p14:sldId id="259"/>
            <p14:sldId id="260"/>
            <p14:sldId id="261"/>
            <p14:sldId id="262"/>
          </p14:sldIdLst>
        </p14:section>
        <p14:section name="競合比較" id="{0ec5ecde-c269-00b6-e7ec-bd662c652c8d}">
          <p14:sldIdLst>
            <p14:sldId id="263"/>
            <p14:sldId id="264"/>
            <p14:sldId id="265"/>
          </p14:sldIdLst>
        </p14:section>
        <p14:section name="改善施策" id="{3b641722-7e34-429c-a729-a3d5bf0a347a}">
          <p14:sldIdLst>
            <p14:sldId id="266"/>
            <p14:sldId id="267"/>
            <p14:sldId id="268"/>
          </p14:sldIdLst>
        </p14:section>
        <p14:section name="まとめ" id="{8c687afa-0a88-fa23-cf2a-856ea211e20f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投稿がない月（2025年12月〜2026年1月、2026年4月の後半〜5月、7月）はグラフから除いています。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Instagram強化プラン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競合との違い（企画・内容・投稿時間）と、閲覧数・フォロワー・エンゲージメントを伸ばす施策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山田歯科・矯正歯科【月寒中央】 @yamada_d.c ｜ 2026年10月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結論：「症例の量産」から「人×動画×地域」へ</a:t>
            </a:r>
            <a:endParaRPr lang="en-US" sz="2400" dirty="0"/>
          </a:p>
        </p:txBody>
      </p:sp>
      <p:sp>
        <p:nvSpPr>
          <p:cNvPr id="3" name="summary0"/>
          <p:cNvSpPr/>
          <p:nvPr/>
        </p:nvSpPr>
        <p:spPr>
          <a:xfrm>
            <a:off x="457200" y="1188720"/>
            <a:ext cx="2615184" cy="3291840"/>
          </a:xfrm>
          <a:prstGeom prst="roundRect">
            <a:avLst>
              <a:gd name="adj" fmla="val 2797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41732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154305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057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表示回数が約7割減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5146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1投稿あたり平均表示は2025年 約3,500 → 2026年 約980。似た形式の症例カルーセル連投で、おすすめ面に乗りにくくなっています。</a:t>
            </a:r>
            <a:endParaRPr lang="en-US" sz="1200" dirty="0"/>
          </a:p>
        </p:txBody>
      </p:sp>
      <p:sp>
        <p:nvSpPr>
          <p:cNvPr id="8" name="summary1"/>
          <p:cNvSpPr/>
          <p:nvPr/>
        </p:nvSpPr>
        <p:spPr>
          <a:xfrm>
            <a:off x="3264408" y="1188720"/>
            <a:ext cx="2615184" cy="3291840"/>
          </a:xfrm>
          <a:prstGeom prst="roundRect">
            <a:avLst>
              <a:gd name="adj" fmla="val 2797"/>
            </a:avLst>
          </a:prstGeom>
          <a:solidFill>
            <a:schemeClr val="bg2"/>
          </a:solidFill>
          <a:ln/>
        </p:spPr>
      </p:sp>
      <p:sp>
        <p:nvSpPr>
          <p:cNvPr id="9" name="Shape 6"/>
          <p:cNvSpPr/>
          <p:nvPr/>
        </p:nvSpPr>
        <p:spPr>
          <a:xfrm>
            <a:off x="3493008" y="141732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8738" y="154305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93008" y="2057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反応が良いのは「人」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93008" y="25146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院長・副院長・スタッフが登場する投稿はリーチ・プロフィール訪問が最多。競合の上位アカウントも人と動画が中心です。</a:t>
            </a:r>
            <a:endParaRPr lang="en-US" sz="1200" dirty="0"/>
          </a:p>
        </p:txBody>
      </p:sp>
      <p:sp>
        <p:nvSpPr>
          <p:cNvPr id="13" name="summary2"/>
          <p:cNvSpPr/>
          <p:nvPr/>
        </p:nvSpPr>
        <p:spPr>
          <a:xfrm>
            <a:off x="6071616" y="1188720"/>
            <a:ext cx="2615184" cy="3291840"/>
          </a:xfrm>
          <a:prstGeom prst="roundRect">
            <a:avLst>
              <a:gd name="adj" fmla="val 2797"/>
            </a:avLst>
          </a:prstGeom>
          <a:solidFill>
            <a:schemeClr val="bg2"/>
          </a:solidFill>
          <a:ln/>
        </p:spPr>
      </p:sp>
      <p:sp>
        <p:nvSpPr>
          <p:cNvPr id="14" name="Shape 10"/>
          <p:cNvSpPr/>
          <p:nvPr/>
        </p:nvSpPr>
        <p:spPr>
          <a:xfrm>
            <a:off x="6300216" y="141732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5946" y="154305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00216" y="2057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札幌在住は5%だけ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300216" y="25146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札幌市内のフォロワーは221人（約5%）。来院につながる地域のフォロワーを増やす設計が必要です。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現状：フォロワーは多いが、届き方と反応が弱い</a:t>
            </a:r>
            <a:endParaRPr lang="en-US" sz="2400" dirty="0"/>
          </a:p>
        </p:txBody>
      </p:sp>
      <p:sp>
        <p:nvSpPr>
          <p:cNvPr id="3" name="kpi0"/>
          <p:cNvSpPr/>
          <p:nvPr/>
        </p:nvSpPr>
        <p:spPr>
          <a:xfrm>
            <a:off x="457200" y="1234440"/>
            <a:ext cx="1920240" cy="210312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4173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4,463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286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フォロワー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697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フォロー中4,052（ほぼ同数）</a:t>
            </a:r>
            <a:endParaRPr lang="en-US" sz="1100" dirty="0"/>
          </a:p>
        </p:txBody>
      </p:sp>
      <p:sp>
        <p:nvSpPr>
          <p:cNvPr id="7" name="kpi1"/>
          <p:cNvSpPr/>
          <p:nvPr/>
        </p:nvSpPr>
        <p:spPr>
          <a:xfrm>
            <a:off x="2560320" y="1234440"/>
            <a:ext cx="1920240" cy="2103120"/>
          </a:xfrm>
          <a:prstGeom prst="roundRect">
            <a:avLst>
              <a:gd name="adj" fmla="val 3810"/>
            </a:avLst>
          </a:prstGeom>
          <a:solidFill>
            <a:schemeClr val="accent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697480" y="14173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−72%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2286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平均表示回数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2697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2025年 → 2026年</a:t>
            </a:r>
            <a:endParaRPr lang="en-US" sz="1100" dirty="0"/>
          </a:p>
        </p:txBody>
      </p:sp>
      <p:sp>
        <p:nvSpPr>
          <p:cNvPr id="11" name="kpi2"/>
          <p:cNvSpPr/>
          <p:nvPr/>
        </p:nvSpPr>
        <p:spPr>
          <a:xfrm>
            <a:off x="4663440" y="1234440"/>
            <a:ext cx="1920240" cy="2103120"/>
          </a:xfrm>
          <a:prstGeom prst="roundRect">
            <a:avLst>
              <a:gd name="adj" fmla="val 3810"/>
            </a:avLst>
          </a:prstGeom>
          <a:solidFill>
            <a:schemeClr val="accent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00600" y="14173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5%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2286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札幌市内フォロワー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697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221人 / 4,463人</a:t>
            </a:r>
            <a:endParaRPr lang="en-US" sz="1100" dirty="0"/>
          </a:p>
        </p:txBody>
      </p:sp>
      <p:sp>
        <p:nvSpPr>
          <p:cNvPr id="15" name="kpi3"/>
          <p:cNvSpPr/>
          <p:nvPr/>
        </p:nvSpPr>
        <p:spPr>
          <a:xfrm>
            <a:off x="6766560" y="1234440"/>
            <a:ext cx="1920240" cy="210312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03720" y="14173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1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2286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シェア数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2697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全105投稿の合計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611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保存数も105投稿で合計46件と少なく、「見られても行動されていない」状態です。フォロー数とフォロワー数がほぼ同じなのは相互フォロー由来のフォロワーが多い可能性を示し、全国に分散したフォロワー構成とも一致します。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出典：Instagramインサイト（Windsor.ai経由、2025年3月〜2026年10月13日の全105投稿）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2026年に入り、1投稿あたりの表示回数が急落</a:t>
            </a:r>
            <a:endParaRPr lang="en-US" sz="2400" dirty="0"/>
          </a:p>
        </p:txBody>
      </p:sp>
      <p:pic>
        <p:nvPicPr>
          <p:cNvPr id="3" name="Image 0" descr="月別の平均表示回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5486400" cy="3566160"/>
          </a:xfrm>
          <a:prstGeom prst="rect">
            <a:avLst/>
          </a:prstGeom>
        </p:spPr>
      </p:pic>
      <p:sp>
        <p:nvSpPr>
          <p:cNvPr id="4" name="insight"/>
          <p:cNvSpPr/>
          <p:nvPr/>
        </p:nvSpPr>
        <p:spPr>
          <a:xfrm>
            <a:off x="6217920" y="1051560"/>
            <a:ext cx="2468880" cy="356616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読み取れること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0" y="1645920"/>
            <a:ext cx="2148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2026年2〜3月に「年齢・主訴」形式の症例カルーセルを約30本連投。1本あたりの表示は1,000前後に低下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12〜1月・4〜5月は投稿ゼロ。空白期間のあとは届きにくい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似た見た目の投稿が続くと、新しい人に表示されにくくなります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テーマ別：「人が見える投稿」が最も届く</a:t>
            </a:r>
            <a:endParaRPr lang="en-US" sz="2400" dirty="0"/>
          </a:p>
        </p:txBody>
      </p:sp>
      <p:pic>
        <p:nvPicPr>
          <p:cNvPr id="3" name="Image 0" descr="テーマ別の平均リーチ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4114800" cy="3566160"/>
          </a:xfrm>
          <a:prstGeom prst="rect">
            <a:avLst/>
          </a:prstGeom>
        </p:spPr>
      </p:pic>
      <p:pic>
        <p:nvPicPr>
          <p:cNvPr id="4" name="Image 1" descr="テーマ別のプロフィール訪問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51560"/>
            <a:ext cx="4023360" cy="35661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上位投稿：副院長紹介（いいね136・訪問44）、「安心につながる診療」（リーチ1,380・訪問52）、ホームホワイトニングの使い方リール（リーチ1,608・保存11）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投稿時間：時間帯がばらばらで、検証できていない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47548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14400"/>
                <a:gridCol w="1051560"/>
                <a:gridCol w="10515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時間帯（日本時間）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投稿数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平均いいね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保存（計）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朝 5〜8時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</a:rPr>
                        <a:t>45.1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</a:rPr>
                        <a:t>19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午前 9〜11時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36.1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昼〜夕 12〜17時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36.8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夜 18〜20時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43.6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夜 21〜23時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44.5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imeinsight"/>
          <p:cNvSpPr/>
          <p:nvPr/>
        </p:nvSpPr>
        <p:spPr>
          <a:xfrm>
            <a:off x="5486400" y="1097280"/>
            <a:ext cx="3200400" cy="34290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66928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ポイント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669280" y="1691640"/>
            <a:ext cx="2834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朝（5〜8時）と夜（18時以降）の反応が高め。通勤前・帰宅後に見られています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最近は9〜10時台に固定。反応が低い時間帯に寄っています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フォロワーの中心は30〜40代の働く世代。朝7時台と夜20〜21時台を比べるテストを推奨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曜日：日・水曜の反応がやや高く、木・土曜は低め（差は小さく、参考程度）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フォロワー層：30〜40代中心、札幌は5%のみ</a:t>
            </a:r>
            <a:endParaRPr lang="en-US" sz="2400" dirty="0"/>
          </a:p>
        </p:txBody>
      </p:sp>
      <p:pic>
        <p:nvPicPr>
          <p:cNvPr id="3" name="Image 0" descr="都市別フォロワー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4114800" cy="3566160"/>
          </a:xfrm>
          <a:prstGeom prst="rect">
            <a:avLst/>
          </a:prstGeom>
        </p:spPr>
      </p:pic>
      <p:pic>
        <p:nvPicPr>
          <p:cNvPr id="4" name="Image 1" descr="年齢別フォロワー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51560"/>
            <a:ext cx="4023360" cy="35661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性別が分かる層では男性が女性の約2.1倍（男性1,596 / 女性746）。ホワイトニング・審美の主要顧客である女性層が少ない構成です。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競合アカウント比較（札幌・審美／ホワイトニング）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371600"/>
                <a:gridCol w="914400"/>
                <a:gridCol w="731520"/>
                <a:gridCol w="25603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アカウント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種別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フォロワー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投稿数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特徴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山田歯科（審美） @yamada_d.c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一般＋審美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4,463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105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症例カルーセル中心・リール少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フィアーズホワイトニング（大通）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ホワイトニング専門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3,046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2,420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圧倒的な投稿量・口コミ訴求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札幌デンタルケア（札幌駅）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審美・WH専門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1,703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714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症例数の実績を前面に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札幌プレミアム歯科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審美・WH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836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86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高級感ある世界観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ホワイトエッセンス白石院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WH加盟院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580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56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ブランドの統一デザイン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山田歯科（本院） @yamada.dental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一般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554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84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別アカウント・一般診療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競合の数値は検索エンジンに残るプロフィールの値（取得時期にずれあり）。InstagramはこのPCから直接開けず、投稿ごとの時間・反応は未取得です。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企画・内容の違い：自院と競合上位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2011680" y="1097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自院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394960" y="1097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競合上位</a:t>
            </a:r>
            <a:endParaRPr lang="en-US" sz="1400" dirty="0"/>
          </a:p>
        </p:txBody>
      </p:sp>
      <p:sp>
        <p:nvSpPr>
          <p:cNvPr id="5" name="row0"/>
          <p:cNvSpPr/>
          <p:nvPr/>
        </p:nvSpPr>
        <p:spPr>
          <a:xfrm>
            <a:off x="457200" y="1481328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48132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投稿量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148132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月0〜16本で波がある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394960" y="148132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専門院は毎日〜週数本を継続（2,420本の例も）</a:t>
            </a:r>
            <a:endParaRPr lang="en-US" sz="1200" dirty="0"/>
          </a:p>
        </p:txBody>
      </p:sp>
      <p:sp>
        <p:nvSpPr>
          <p:cNvPr id="9" name="row1"/>
          <p:cNvSpPr/>
          <p:nvPr/>
        </p:nvSpPr>
        <p:spPr>
          <a:xfrm>
            <a:off x="457200" y="2121408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212140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形式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011680" y="212140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カルーセル約70%・リール14%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212140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リール・ビフォーアフター動画が主力</a:t>
            </a:r>
            <a:endParaRPr lang="en-US" sz="1200" dirty="0"/>
          </a:p>
        </p:txBody>
      </p:sp>
      <p:sp>
        <p:nvSpPr>
          <p:cNvPr id="13" name="row2"/>
          <p:cNvSpPr/>
          <p:nvPr/>
        </p:nvSpPr>
        <p:spPr>
          <a:xfrm>
            <a:off x="457200" y="2761488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276148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企画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011680" y="276148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症例・物販・説明の文章型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394960" y="276148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施術の様子、スタッフ、口コミ、料金の明示</a:t>
            </a:r>
            <a:endParaRPr lang="en-US" sz="1200" dirty="0"/>
          </a:p>
        </p:txBody>
      </p:sp>
      <p:sp>
        <p:nvSpPr>
          <p:cNvPr id="17" name="row3"/>
          <p:cNvSpPr/>
          <p:nvPr/>
        </p:nvSpPr>
        <p:spPr>
          <a:xfrm>
            <a:off x="457200" y="3401568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4360" y="340156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見せ方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011680" y="34015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毎回「こんにちは山田歯科です」で開始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394960" y="34015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1枚目に結論・数字・問いかけ</a:t>
            </a:r>
            <a:endParaRPr lang="en-US" sz="1200" dirty="0"/>
          </a:p>
        </p:txBody>
      </p:sp>
      <p:sp>
        <p:nvSpPr>
          <p:cNvPr id="21" name="row4"/>
          <p:cNvSpPr/>
          <p:nvPr/>
        </p:nvSpPr>
        <p:spPr>
          <a:xfrm>
            <a:off x="457200" y="4041648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94360" y="404164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地域性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2011680" y="404164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ハッシュタグのみ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394960" y="404164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駅名・地名を表紙や本文に入れて地元に訴求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投稿時間：自院は「午前」、伸びるのは「朝・夜」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874520"/>
            <a:ext cx="7680960" cy="0"/>
          </a:xfrm>
          <a:prstGeom prst="line">
            <a:avLst/>
          </a:prstGeom>
          <a:noFill/>
          <a:ln w="25400">
            <a:solidFill>
              <a:srgbClr val="D7E3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69164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194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7:00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06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通勤前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260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朝のスキマ時間。自院データでも保存が最多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0" y="1691640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29000" y="2194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12:00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606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昼休み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9260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短いリール向き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69164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26480" y="2194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20:00〜21:00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606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帰宅後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29260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じっくり読むカルーセル向き</a:t>
            </a:r>
            <a:endParaRPr lang="en-US" sz="1200" dirty="0"/>
          </a:p>
        </p:txBody>
      </p:sp>
      <p:sp>
        <p:nvSpPr>
          <p:cNvPr id="16" name="timenote"/>
          <p:cNvSpPr/>
          <p:nvPr/>
        </p:nvSpPr>
        <p:spPr>
          <a:xfrm>
            <a:off x="457200" y="370332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7673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自院の最近の投稿は9:30〜10:00前後に集中。一般的な調査では朝・昼・夜20〜22時が山とされますが、日本の歯科医院に限ったデータはありません。2週間ずつ時間をずらして、自院のインサイトで決めるのが確実です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伸ばすための6つの施策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70432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07592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10972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リールを週2本に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188720" y="14630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院長・衛生士が話す30秒動画。「ホワイトニング何回で白くなる？」など質問に答える形式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663440" y="1170432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307592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394960" y="10972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保存される投稿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5394960" y="14630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1枚目に結論。料金表・ケア方法・比較表など「あとで見返す」情報をまとめる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57200" y="235915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496312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88720" y="22860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地元に届ける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188720" y="26517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位置情報（月寒中央）を必ず付ける。表紙に「月寒中央駅2分」。地元店舗とのコラボ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663440" y="235915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496312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394960" y="22860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人を主役に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5394960" y="26517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スタッフ紹介・1日の裏側・院長の考え。反応が最も高いテーマを月4本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457200" y="354787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685032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188720" y="34747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時間を固定して検証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1188720" y="38404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朝7時台と夜20時台で2週間ずつテスト。週4本を同じ曜日・時間に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4663440" y="354787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685032"/>
            <a:ext cx="274320" cy="27432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394960" y="34747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行動を促す一言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5394960" y="38404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「保存してね」「気になる方は“白”とDM」でコメント・DMを増やす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週4本の投稿モデル（30日間で検証）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914400"/>
                <a:gridCol w="1280160"/>
                <a:gridCol w="5212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曜日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時間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形式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企画例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7:30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リール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院長が答える「ホワイトニングのよくある質問」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20:00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カルーセル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保存版：ホワイトニング3種類の料金・回数・違い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金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12:00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リール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スタッフの1日／施術の流れを30秒で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日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20:00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カルーセル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症例（治療内容・費用・リスクを明記）または口コミ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毎日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随時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ストーリーズ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空き枠のお知らせ・アンケート・質問箱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2週目に朝と夜の時間を入れ替えて比較。反応が良い枠に寄せていきます。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注意：医療広告ガイドラインを守った見せ方に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1188720"/>
            <a:ext cx="7223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ビフォーアフター写真には、治療内容・費用・主なリスク・副作用を写真の近くに読みやすく記載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「痛くない」「必ず白くなる」など効果を保証する表現・最上級表現は使わない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口コミ・体験談は、治療の効果を示す内容に注意（雰囲気・対応への感想が中心なら比較的安全）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判断に迷う投稿は、所轄の保健所や専門家に確認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参考：厚生労働省「医療広告ガイドライン」関連資料、各種解説記事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3か月後の目標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1投稿の平均表示回数：980 → 2,000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札幌市内のフォロワー：221人 → 400人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1投稿あたりの保存：0.4件 → 5件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毎月インサイトで振り返り、反応の良い企画・時間帯に寄せていきます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Yamada Dental">
  <a:themeElements>
    <a:clrScheme name="Yamada Dental">
      <a:dk1>
        <a:srgbClr val="1F2A30"/>
      </a:dk1>
      <a:lt1>
        <a:srgbClr val="FFFFFF"/>
      </a:lt1>
      <a:dk2>
        <a:srgbClr val="0F4C5C"/>
      </a:dk2>
      <a:lt2>
        <a:srgbClr val="EAF5F3"/>
      </a:lt2>
      <a:accent1>
        <a:srgbClr val="0F4C5C"/>
      </a:accent1>
      <a:accent2>
        <a:srgbClr val="2A9D8F"/>
      </a:accent2>
      <a:accent3>
        <a:srgbClr val="F28C6B"/>
      </a:accent3>
      <a:accent4>
        <a:srgbClr val="8AB6B0"/>
      </a:accent4>
      <a:accent5>
        <a:srgbClr val="E9C46A"/>
      </a:accent5>
      <a:accent6>
        <a:srgbClr val="6B7A80"/>
      </a:accent6>
      <a:hlink>
        <a:srgbClr val="2A9D8F"/>
      </a:hlink>
      <a:folHlink>
        <a:srgbClr val="6B7A80"/>
      </a:folHlink>
    </a:clrScheme>
    <a:fontScheme name="Yamada Dental">
      <a:majorFont>
        <a:latin typeface="Hiragino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iragin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Instagram強化提案</dc:title>
  <dc:subject>PptxGenJS Presentation</dc:subject>
  <dc:creator>PptxGenJS</dc:creator>
  <cp:lastModifiedBy>PptxGenJS</cp:lastModifiedBy>
  <cp:revision>1</cp:revision>
  <dcterms:created xsi:type="dcterms:W3CDTF">2026-10-17T08:26:25Z</dcterms:created>
  <dcterms:modified xsi:type="dcterms:W3CDTF">2026-10-17T08:26:25Z</dcterms:modified>
</cp:coreProperties>
</file>